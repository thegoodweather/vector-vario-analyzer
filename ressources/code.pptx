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Modifier le style des sous-titres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28/03/2026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994350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28/03/2026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064993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28/03/2026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189915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28/03/2026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700063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28/03/2026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032872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28/03/2026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390582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28/03/2026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624087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28/03/2026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248959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28/03/2026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314313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28/03/2026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702209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28/03/2026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096572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53B1B7A-19D7-47DD-996A-6E83BE59A4F5}" type="datetimeFigureOut">
              <a:rPr lang="fr-FR" smtClean="0"/>
              <a:t>28/03/2026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685130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63236" y="415636"/>
            <a:ext cx="2743200" cy="5846619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5" name="Rectangle 4"/>
          <p:cNvSpPr/>
          <p:nvPr/>
        </p:nvSpPr>
        <p:spPr>
          <a:xfrm>
            <a:off x="3325091" y="415636"/>
            <a:ext cx="8132618" cy="5846619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Rectangle à coins arrondis 5"/>
          <p:cNvSpPr/>
          <p:nvPr/>
        </p:nvSpPr>
        <p:spPr>
          <a:xfrm>
            <a:off x="3777202" y="637226"/>
            <a:ext cx="1884218" cy="83929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Select file </a:t>
            </a:r>
            <a:r>
              <a:rPr lang="fr-FR" dirty="0" err="1"/>
              <a:t>path</a:t>
            </a:r>
            <a:r>
              <a:rPr lang="fr-FR" dirty="0"/>
              <a:t> and copy to </a:t>
            </a:r>
            <a:r>
              <a:rPr lang="fr-FR" dirty="0" err="1"/>
              <a:t>flights</a:t>
            </a:r>
            <a:r>
              <a:rPr lang="fr-FR" dirty="0"/>
              <a:t> </a:t>
            </a:r>
            <a:r>
              <a:rPr lang="fr-FR" dirty="0" err="1"/>
              <a:t>dir</a:t>
            </a:r>
            <a:endParaRPr lang="fr-FR" dirty="0"/>
          </a:p>
        </p:txBody>
      </p:sp>
      <p:sp>
        <p:nvSpPr>
          <p:cNvPr id="8" name="Rectangle 7"/>
          <p:cNvSpPr/>
          <p:nvPr/>
        </p:nvSpPr>
        <p:spPr>
          <a:xfrm>
            <a:off x="583519" y="588817"/>
            <a:ext cx="1773382" cy="55418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tx1"/>
                </a:solidFill>
              </a:rPr>
              <a:t>new file </a:t>
            </a:r>
            <a:r>
              <a:rPr lang="fr-FR" dirty="0" err="1">
                <a:solidFill>
                  <a:schemeClr val="tx1"/>
                </a:solidFill>
              </a:rPr>
              <a:t>path</a:t>
            </a:r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9" name="Rectangle à coins arrondis 8"/>
          <p:cNvSpPr/>
          <p:nvPr/>
        </p:nvSpPr>
        <p:spPr>
          <a:xfrm>
            <a:off x="3814262" y="2033244"/>
            <a:ext cx="2410691" cy="48490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/>
              <a:t>create</a:t>
            </a:r>
            <a:r>
              <a:rPr lang="fr-FR" dirty="0"/>
              <a:t> </a:t>
            </a:r>
            <a:r>
              <a:rPr lang="fr-FR" dirty="0" err="1"/>
              <a:t>vva</a:t>
            </a:r>
            <a:r>
              <a:rPr lang="fr-FR" dirty="0"/>
              <a:t> file </a:t>
            </a:r>
            <a:r>
              <a:rPr lang="fr-FR" dirty="0" err="1"/>
              <a:t>from</a:t>
            </a:r>
            <a:r>
              <a:rPr lang="fr-FR" dirty="0"/>
              <a:t> csv</a:t>
            </a:r>
          </a:p>
        </p:txBody>
      </p:sp>
      <p:sp>
        <p:nvSpPr>
          <p:cNvPr id="10" name="ZoneTexte 9"/>
          <p:cNvSpPr txBox="1"/>
          <p:nvPr/>
        </p:nvSpPr>
        <p:spPr>
          <a:xfrm>
            <a:off x="583519" y="46304"/>
            <a:ext cx="10374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Variables</a:t>
            </a:r>
          </a:p>
        </p:txBody>
      </p:sp>
      <p:sp>
        <p:nvSpPr>
          <p:cNvPr id="11" name="ZoneTexte 10"/>
          <p:cNvSpPr txBox="1"/>
          <p:nvPr/>
        </p:nvSpPr>
        <p:spPr>
          <a:xfrm>
            <a:off x="3548392" y="23153"/>
            <a:ext cx="10920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Fonctions</a:t>
            </a:r>
          </a:p>
        </p:txBody>
      </p:sp>
      <p:sp>
        <p:nvSpPr>
          <p:cNvPr id="14" name="Rectangle à coins arrondis 13"/>
          <p:cNvSpPr/>
          <p:nvPr/>
        </p:nvSpPr>
        <p:spPr>
          <a:xfrm>
            <a:off x="7245927" y="658091"/>
            <a:ext cx="1884218" cy="48490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Scan </a:t>
            </a:r>
            <a:r>
              <a:rPr lang="fr-FR" dirty="0" err="1"/>
              <a:t>flights</a:t>
            </a:r>
            <a:r>
              <a:rPr lang="fr-FR" dirty="0"/>
              <a:t> </a:t>
            </a:r>
            <a:r>
              <a:rPr lang="fr-FR" dirty="0" err="1"/>
              <a:t>inside</a:t>
            </a:r>
            <a:r>
              <a:rPr lang="fr-FR" dirty="0"/>
              <a:t> flight </a:t>
            </a:r>
            <a:r>
              <a:rPr lang="fr-FR" dirty="0" err="1"/>
              <a:t>dir</a:t>
            </a:r>
            <a:r>
              <a:rPr lang="fr-FR" dirty="0"/>
              <a:t> </a:t>
            </a:r>
          </a:p>
        </p:txBody>
      </p:sp>
      <p:sp>
        <p:nvSpPr>
          <p:cNvPr id="21" name="Rectangle à coins arrondis 20"/>
          <p:cNvSpPr/>
          <p:nvPr/>
        </p:nvSpPr>
        <p:spPr>
          <a:xfrm>
            <a:off x="3687147" y="3944211"/>
            <a:ext cx="2064327" cy="812512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Scan &amp; </a:t>
            </a:r>
            <a:r>
              <a:rPr lang="fr-FR" dirty="0" err="1"/>
              <a:t>Fetch</a:t>
            </a:r>
            <a:r>
              <a:rPr lang="fr-FR" dirty="0"/>
              <a:t> </a:t>
            </a:r>
            <a:r>
              <a:rPr lang="fr-FR" dirty="0" err="1"/>
              <a:t>metadata</a:t>
            </a:r>
            <a:r>
              <a:rPr lang="fr-FR" dirty="0"/>
              <a:t> </a:t>
            </a:r>
            <a:r>
              <a:rPr lang="fr-FR" dirty="0" err="1"/>
              <a:t>from</a:t>
            </a:r>
            <a:r>
              <a:rPr lang="fr-FR" dirty="0"/>
              <a:t> </a:t>
            </a:r>
            <a:r>
              <a:rPr lang="fr-FR" dirty="0" err="1"/>
              <a:t>vva</a:t>
            </a:r>
            <a:r>
              <a:rPr lang="fr-FR" dirty="0"/>
              <a:t> files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71423" y="3212300"/>
            <a:ext cx="2556374" cy="205840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>
                <a:solidFill>
                  <a:schemeClr val="tx1"/>
                </a:solidFill>
              </a:rPr>
              <a:t>vva_flight_dic</a:t>
            </a:r>
            <a:r>
              <a:rPr lang="fr-FR" dirty="0">
                <a:solidFill>
                  <a:schemeClr val="tx1"/>
                </a:solidFill>
              </a:rPr>
              <a:t>: </a:t>
            </a:r>
          </a:p>
          <a:p>
            <a:pPr algn="ctr"/>
            <a:r>
              <a:rPr lang="fr-FR" dirty="0">
                <a:solidFill>
                  <a:schemeClr val="tx1"/>
                </a:solidFill>
              </a:rPr>
              <a:t>	</a:t>
            </a:r>
            <a:r>
              <a:rPr lang="fr-FR" dirty="0" err="1">
                <a:solidFill>
                  <a:schemeClr val="tx1"/>
                </a:solidFill>
              </a:rPr>
              <a:t>Metadata</a:t>
            </a:r>
            <a:endParaRPr lang="fr-FR" dirty="0">
              <a:solidFill>
                <a:schemeClr val="tx1"/>
              </a:solidFill>
            </a:endParaRPr>
          </a:p>
          <a:p>
            <a:pPr algn="ctr"/>
            <a:r>
              <a:rPr lang="fr-FR" dirty="0">
                <a:solidFill>
                  <a:schemeClr val="tx1"/>
                </a:solidFill>
              </a:rPr>
              <a:t>	</a:t>
            </a:r>
            <a:r>
              <a:rPr lang="fr-FR" dirty="0" err="1">
                <a:solidFill>
                  <a:schemeClr val="tx1"/>
                </a:solidFill>
              </a:rPr>
              <a:t>Filetype</a:t>
            </a:r>
            <a:r>
              <a:rPr lang="fr-FR" dirty="0">
                <a:solidFill>
                  <a:schemeClr val="tx1"/>
                </a:solidFill>
              </a:rPr>
              <a:t> </a:t>
            </a:r>
            <a:r>
              <a:rPr lang="fr-FR" dirty="0" err="1">
                <a:solidFill>
                  <a:schemeClr val="tx1"/>
                </a:solidFill>
              </a:rPr>
              <a:t>origin</a:t>
            </a:r>
            <a:endParaRPr lang="fr-FR" dirty="0">
              <a:solidFill>
                <a:schemeClr val="tx1"/>
              </a:solidFill>
            </a:endParaRPr>
          </a:p>
          <a:p>
            <a:pPr algn="ctr"/>
            <a:r>
              <a:rPr lang="fr-FR" dirty="0">
                <a:solidFill>
                  <a:schemeClr val="tx1"/>
                </a:solidFill>
              </a:rPr>
              <a:t>	File </a:t>
            </a:r>
            <a:r>
              <a:rPr lang="fr-FR" dirty="0" err="1">
                <a:solidFill>
                  <a:schemeClr val="tx1"/>
                </a:solidFill>
              </a:rPr>
              <a:t>path</a:t>
            </a:r>
            <a:r>
              <a:rPr lang="fr-FR" dirty="0">
                <a:solidFill>
                  <a:schemeClr val="tx1"/>
                </a:solidFill>
              </a:rPr>
              <a:t> </a:t>
            </a:r>
          </a:p>
          <a:p>
            <a:pPr algn="ctr"/>
            <a:r>
              <a:rPr lang="fr-FR" dirty="0">
                <a:solidFill>
                  <a:schemeClr val="tx1"/>
                </a:solidFill>
              </a:rPr>
              <a:t>	File </a:t>
            </a:r>
            <a:r>
              <a:rPr lang="fr-FR" dirty="0" err="1">
                <a:solidFill>
                  <a:schemeClr val="tx1"/>
                </a:solidFill>
              </a:rPr>
              <a:t>path</a:t>
            </a:r>
            <a:r>
              <a:rPr lang="fr-FR" dirty="0">
                <a:solidFill>
                  <a:schemeClr val="tx1"/>
                </a:solidFill>
              </a:rPr>
              <a:t> </a:t>
            </a:r>
            <a:r>
              <a:rPr lang="fr-FR" dirty="0" err="1">
                <a:solidFill>
                  <a:schemeClr val="tx1"/>
                </a:solidFill>
              </a:rPr>
              <a:t>origin</a:t>
            </a:r>
            <a:endParaRPr lang="fr-FR" dirty="0">
              <a:solidFill>
                <a:schemeClr val="tx1"/>
              </a:solidFill>
            </a:endParaRPr>
          </a:p>
          <a:p>
            <a:pPr algn="ctr"/>
            <a:r>
              <a:rPr lang="fr-FR" dirty="0">
                <a:solidFill>
                  <a:schemeClr val="tx1"/>
                </a:solidFill>
              </a:rPr>
              <a:t>Is active ?</a:t>
            </a:r>
          </a:p>
          <a:p>
            <a:pPr algn="ctr"/>
            <a:r>
              <a:rPr lang="fr-FR" dirty="0">
                <a:solidFill>
                  <a:schemeClr val="tx1"/>
                </a:solidFill>
              </a:rPr>
              <a:t>Data </a:t>
            </a:r>
          </a:p>
        </p:txBody>
      </p:sp>
      <p:sp>
        <p:nvSpPr>
          <p:cNvPr id="23" name="Rectangle à coins arrondis 22"/>
          <p:cNvSpPr/>
          <p:nvPr/>
        </p:nvSpPr>
        <p:spPr>
          <a:xfrm>
            <a:off x="3777202" y="5028248"/>
            <a:ext cx="1884218" cy="48490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Update table</a:t>
            </a:r>
          </a:p>
        </p:txBody>
      </p:sp>
      <p:sp>
        <p:nvSpPr>
          <p:cNvPr id="24" name="Rectangle à coins arrondis 23"/>
          <p:cNvSpPr/>
          <p:nvPr/>
        </p:nvSpPr>
        <p:spPr>
          <a:xfrm>
            <a:off x="3777202" y="5772839"/>
            <a:ext cx="1884218" cy="48490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/>
              <a:t>Delete</a:t>
            </a:r>
            <a:r>
              <a:rPr lang="fr-FR" dirty="0"/>
              <a:t> entries</a:t>
            </a:r>
          </a:p>
        </p:txBody>
      </p:sp>
      <p:sp>
        <p:nvSpPr>
          <p:cNvPr id="25" name="Rectangle à coins arrondis 24"/>
          <p:cNvSpPr/>
          <p:nvPr/>
        </p:nvSpPr>
        <p:spPr>
          <a:xfrm>
            <a:off x="7508243" y="3438353"/>
            <a:ext cx="2343257" cy="117344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/>
              <a:t>Load</a:t>
            </a:r>
            <a:r>
              <a:rPr lang="fr-FR" dirty="0"/>
              <a:t> </a:t>
            </a:r>
            <a:r>
              <a:rPr lang="fr-FR" dirty="0" err="1"/>
              <a:t>flights</a:t>
            </a:r>
            <a:r>
              <a:rPr lang="fr-FR" dirty="0"/>
              <a:t> for </a:t>
            </a:r>
            <a:r>
              <a:rPr lang="fr-FR" dirty="0" err="1"/>
              <a:t>analysis</a:t>
            </a:r>
            <a:r>
              <a:rPr lang="fr-FR" dirty="0"/>
              <a:t>: </a:t>
            </a:r>
            <a:r>
              <a:rPr lang="fr-FR" dirty="0" err="1"/>
              <a:t>fetch</a:t>
            </a:r>
            <a:r>
              <a:rPr lang="fr-FR" dirty="0"/>
              <a:t> data </a:t>
            </a:r>
            <a:r>
              <a:rPr lang="fr-FR" dirty="0" err="1"/>
              <a:t>from</a:t>
            </a:r>
            <a:r>
              <a:rPr lang="fr-FR" dirty="0"/>
              <a:t> </a:t>
            </a:r>
            <a:r>
              <a:rPr lang="fr-FR" dirty="0" err="1"/>
              <a:t>corresponding</a:t>
            </a:r>
            <a:r>
              <a:rPr lang="fr-FR" dirty="0"/>
              <a:t> csv or </a:t>
            </a:r>
            <a:r>
              <a:rPr lang="fr-FR" dirty="0" err="1"/>
              <a:t>igc</a:t>
            </a:r>
            <a:endParaRPr lang="fr-FR" dirty="0"/>
          </a:p>
        </p:txBody>
      </p:sp>
      <p:sp>
        <p:nvSpPr>
          <p:cNvPr id="28" name="Rectangle à coins arrondis 27"/>
          <p:cNvSpPr/>
          <p:nvPr/>
        </p:nvSpPr>
        <p:spPr>
          <a:xfrm>
            <a:off x="6742900" y="2033240"/>
            <a:ext cx="2410691" cy="48490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/>
              <a:t>create</a:t>
            </a:r>
            <a:r>
              <a:rPr lang="fr-FR" dirty="0"/>
              <a:t> </a:t>
            </a:r>
            <a:r>
              <a:rPr lang="fr-FR" dirty="0" err="1"/>
              <a:t>vva</a:t>
            </a:r>
            <a:r>
              <a:rPr lang="fr-FR" dirty="0"/>
              <a:t> file </a:t>
            </a:r>
            <a:r>
              <a:rPr lang="fr-FR" dirty="0" err="1"/>
              <a:t>from</a:t>
            </a:r>
            <a:r>
              <a:rPr lang="fr-FR" dirty="0"/>
              <a:t> </a:t>
            </a:r>
            <a:r>
              <a:rPr lang="fr-FR" dirty="0" err="1"/>
              <a:t>igc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9252098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63236" y="415636"/>
            <a:ext cx="2743200" cy="5846619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5" name="Rectangle 4"/>
          <p:cNvSpPr/>
          <p:nvPr/>
        </p:nvSpPr>
        <p:spPr>
          <a:xfrm>
            <a:off x="4278820" y="365480"/>
            <a:ext cx="8132618" cy="5846619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2" name="Rectangle 21"/>
          <p:cNvSpPr/>
          <p:nvPr/>
        </p:nvSpPr>
        <p:spPr>
          <a:xfrm>
            <a:off x="371423" y="784968"/>
            <a:ext cx="2556374" cy="448573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2" name="ZoneTexte 1"/>
          <p:cNvSpPr txBox="1"/>
          <p:nvPr/>
        </p:nvSpPr>
        <p:spPr>
          <a:xfrm>
            <a:off x="3469734" y="595745"/>
            <a:ext cx="5330137" cy="59785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b="1" dirty="0" err="1"/>
              <a:t>Metadata</a:t>
            </a:r>
            <a:endParaRPr lang="fr-FR" sz="1200" b="1" dirty="0"/>
          </a:p>
          <a:p>
            <a:r>
              <a:rPr lang="fr-FR" sz="1200" dirty="0"/>
              <a:t>	"</a:t>
            </a:r>
            <a:r>
              <a:rPr lang="fr-FR" sz="1200" dirty="0" err="1"/>
              <a:t>vv_vva</a:t>
            </a:r>
            <a:r>
              <a:rPr lang="fr-FR" sz="1200" dirty="0"/>
              <a:t>" : </a:t>
            </a:r>
          </a:p>
          <a:p>
            <a:pPr lvl="2"/>
            <a:r>
              <a:rPr lang="fr-FR" sz="1200" dirty="0"/>
              <a:t>"</a:t>
            </a:r>
            <a:r>
              <a:rPr lang="fr-FR" sz="1200" dirty="0" err="1"/>
              <a:t>vv_sn</a:t>
            </a:r>
            <a:r>
              <a:rPr lang="fr-FR" sz="1200" dirty="0"/>
              <a:t>" :,</a:t>
            </a:r>
          </a:p>
          <a:p>
            <a:pPr lvl="2"/>
            <a:r>
              <a:rPr lang="fr-FR" sz="1200" dirty="0"/>
              <a:t>"</a:t>
            </a:r>
            <a:r>
              <a:rPr lang="fr-FR" sz="1200" dirty="0" err="1"/>
              <a:t>vv_hw</a:t>
            </a:r>
            <a:r>
              <a:rPr lang="fr-FR" sz="1200" dirty="0"/>
              <a:t>" : </a:t>
            </a:r>
          </a:p>
          <a:p>
            <a:pPr lvl="2"/>
            <a:r>
              <a:rPr lang="fr-FR" sz="1200" dirty="0"/>
              <a:t>"</a:t>
            </a:r>
            <a:r>
              <a:rPr lang="fr-FR" sz="1200" dirty="0" err="1"/>
              <a:t>vv_fw</a:t>
            </a:r>
            <a:r>
              <a:rPr lang="fr-FR" sz="1200" dirty="0"/>
              <a:t>" :</a:t>
            </a:r>
          </a:p>
          <a:p>
            <a:pPr lvl="2"/>
            <a:r>
              <a:rPr lang="fr-FR" sz="1200" dirty="0"/>
              <a:t>"</a:t>
            </a:r>
            <a:r>
              <a:rPr lang="fr-FR" sz="1200" dirty="0" err="1"/>
              <a:t>calib</a:t>
            </a:r>
            <a:r>
              <a:rPr lang="fr-FR" sz="1200" dirty="0"/>
              <a:t>" :</a:t>
            </a:r>
          </a:p>
          <a:p>
            <a:pPr lvl="2"/>
            <a:r>
              <a:rPr lang="fr-FR" sz="1200" dirty="0"/>
              <a:t>"pilot" : ,</a:t>
            </a:r>
          </a:p>
          <a:p>
            <a:pPr lvl="2"/>
            <a:r>
              <a:rPr lang="fr-FR" sz="1200" dirty="0"/>
              <a:t>"date" :,</a:t>
            </a:r>
          </a:p>
          <a:p>
            <a:pPr lvl="2"/>
            <a:r>
              <a:rPr lang="fr-FR" sz="1200" dirty="0"/>
              <a:t>"</a:t>
            </a:r>
            <a:r>
              <a:rPr lang="fr-FR" sz="1200" dirty="0" err="1"/>
              <a:t>hour</a:t>
            </a:r>
            <a:r>
              <a:rPr lang="fr-FR" sz="1200" dirty="0"/>
              <a:t>" : ,</a:t>
            </a:r>
          </a:p>
          <a:p>
            <a:pPr lvl="2"/>
            <a:r>
              <a:rPr lang="fr-FR" sz="1200" dirty="0"/>
              <a:t>"</a:t>
            </a:r>
            <a:r>
              <a:rPr lang="fr-FR" sz="1200" dirty="0" err="1"/>
              <a:t>altitude_max</a:t>
            </a:r>
            <a:r>
              <a:rPr lang="fr-FR" sz="1200" dirty="0"/>
              <a:t>" :,</a:t>
            </a:r>
          </a:p>
          <a:p>
            <a:pPr lvl="2"/>
            <a:r>
              <a:rPr lang="fr-FR" sz="1200" dirty="0"/>
              <a:t>"</a:t>
            </a:r>
            <a:r>
              <a:rPr lang="fr-FR" sz="1200" dirty="0" err="1"/>
              <a:t>altitude_min</a:t>
            </a:r>
            <a:r>
              <a:rPr lang="fr-FR" sz="1200" dirty="0"/>
              <a:t>" :, </a:t>
            </a:r>
          </a:p>
          <a:p>
            <a:pPr lvl="2"/>
            <a:r>
              <a:rPr lang="fr-FR" sz="1200" dirty="0"/>
              <a:t>"</a:t>
            </a:r>
            <a:r>
              <a:rPr lang="fr-FR" sz="1200" dirty="0" err="1"/>
              <a:t>altitude_start</a:t>
            </a:r>
            <a:r>
              <a:rPr lang="fr-FR" sz="1200" dirty="0"/>
              <a:t>" :,</a:t>
            </a:r>
          </a:p>
          <a:p>
            <a:pPr lvl="2"/>
            <a:r>
              <a:rPr lang="fr-FR" sz="1200" dirty="0"/>
              <a:t>"</a:t>
            </a:r>
            <a:r>
              <a:rPr lang="fr-FR" sz="1200" dirty="0" err="1"/>
              <a:t>avg_windspeed</a:t>
            </a:r>
            <a:r>
              <a:rPr lang="fr-FR" sz="1200" dirty="0"/>
              <a:t>" :,</a:t>
            </a:r>
          </a:p>
          <a:p>
            <a:pPr lvl="2"/>
            <a:r>
              <a:rPr lang="fr-FR" sz="1200" dirty="0"/>
              <a:t>"</a:t>
            </a:r>
            <a:r>
              <a:rPr lang="fr-FR" sz="1200" dirty="0" err="1"/>
              <a:t>avg_winddir</a:t>
            </a:r>
            <a:r>
              <a:rPr lang="fr-FR" sz="1200" dirty="0"/>
              <a:t>" : </a:t>
            </a:r>
          </a:p>
          <a:p>
            <a:pPr lvl="2"/>
            <a:r>
              <a:rPr lang="fr-FR" sz="1200" dirty="0"/>
              <a:t>"comment" : </a:t>
            </a:r>
          </a:p>
          <a:p>
            <a:pPr lvl="2"/>
            <a:endParaRPr lang="fr-FR" sz="1050" dirty="0"/>
          </a:p>
          <a:p>
            <a:r>
              <a:rPr lang="fr-FR" sz="1200" b="1" dirty="0"/>
              <a:t>	</a:t>
            </a:r>
          </a:p>
          <a:p>
            <a:r>
              <a:rPr lang="fr-FR" sz="1200" b="1" dirty="0" err="1"/>
              <a:t>file_path</a:t>
            </a:r>
            <a:endParaRPr lang="fr-FR" sz="1200" b="1" dirty="0"/>
          </a:p>
          <a:p>
            <a:r>
              <a:rPr lang="fr-FR" sz="1200" b="1" dirty="0" err="1"/>
              <a:t>file_name</a:t>
            </a:r>
            <a:endParaRPr lang="fr-FR" sz="1200" b="1" dirty="0"/>
          </a:p>
          <a:p>
            <a:r>
              <a:rPr lang="fr-FR" sz="1200" b="1" dirty="0" err="1"/>
              <a:t>origin_file_path</a:t>
            </a:r>
            <a:endParaRPr lang="fr-FR" sz="1200" b="1" dirty="0"/>
          </a:p>
          <a:p>
            <a:r>
              <a:rPr lang="fr-FR" sz="1200" b="1" dirty="0" err="1"/>
              <a:t>is_data_processed</a:t>
            </a:r>
            <a:r>
              <a:rPr lang="fr-FR" sz="1200" b="1" dirty="0"/>
              <a:t>  </a:t>
            </a:r>
          </a:p>
          <a:p>
            <a:r>
              <a:rPr lang="fr-FR" sz="1200" b="1" dirty="0"/>
              <a:t>plot:</a:t>
            </a:r>
            <a:r>
              <a:rPr lang="fr-FR" sz="1200" dirty="0"/>
              <a:t>                « variables_1D" : </a:t>
            </a:r>
          </a:p>
          <a:p>
            <a:r>
              <a:rPr lang="fr-FR" sz="1200" dirty="0"/>
              <a:t>	«windbarbs_2D" :,</a:t>
            </a:r>
          </a:p>
          <a:p>
            <a:pPr lvl="2"/>
            <a:r>
              <a:rPr lang="fr-FR" sz="1200" dirty="0"/>
              <a:t>"variables_2D" : </a:t>
            </a:r>
          </a:p>
          <a:p>
            <a:pPr lvl="2"/>
            <a:r>
              <a:rPr lang="fr-FR" sz="1200" dirty="0"/>
              <a:t>«</a:t>
            </a:r>
            <a:r>
              <a:rPr lang="fr-FR" sz="1200" dirty="0" err="1"/>
              <a:t>roi_polar</a:t>
            </a:r>
            <a:r>
              <a:rPr lang="fr-FR" sz="1200" dirty="0"/>
              <a:t> »: [‘roi’ , ‘</a:t>
            </a:r>
            <a:r>
              <a:rPr lang="fr-FR" sz="1200" dirty="0" err="1"/>
              <a:t>ias_avg</a:t>
            </a:r>
            <a:r>
              <a:rPr lang="fr-FR" sz="1200" dirty="0"/>
              <a:t>’ ‘</a:t>
            </a:r>
            <a:r>
              <a:rPr lang="fr-FR" sz="1200" dirty="0" err="1"/>
              <a:t>vx_avg</a:t>
            </a:r>
            <a:r>
              <a:rPr lang="fr-FR" sz="1200" dirty="0"/>
              <a:t>’ ‘</a:t>
            </a:r>
            <a:r>
              <a:rPr lang="fr-FR" sz="1200" dirty="0" err="1"/>
              <a:t>vz_avg</a:t>
            </a:r>
            <a:r>
              <a:rPr lang="fr-FR" sz="1200" dirty="0"/>
              <a:t>’ ‘</a:t>
            </a:r>
            <a:r>
              <a:rPr lang="fr-FR" sz="1200" dirty="0" err="1"/>
              <a:t>glide_avg</a:t>
            </a:r>
            <a:r>
              <a:rPr lang="fr-FR" sz="1200" dirty="0"/>
              <a:t>’ </a:t>
            </a:r>
          </a:p>
          <a:p>
            <a:pPr lvl="2"/>
            <a:r>
              <a:rPr lang="fr-FR" sz="1200" dirty="0"/>
              <a:t>liste de liste </a:t>
            </a:r>
          </a:p>
          <a:p>
            <a:pPr lvl="2"/>
            <a:r>
              <a:rPr lang="fr-FR" sz="1200" dirty="0"/>
              <a:t>« </a:t>
            </a:r>
            <a:r>
              <a:rPr lang="fr-FR" sz="1200" dirty="0" err="1"/>
              <a:t>scatter_vxvz</a:t>
            </a:r>
            <a:r>
              <a:rPr lang="fr-FR" sz="1200" dirty="0"/>
              <a:t> »</a:t>
            </a:r>
          </a:p>
          <a:p>
            <a:pPr lvl="2"/>
            <a:r>
              <a:rPr lang="fr-FR" sz="1200" dirty="0"/>
              <a:t>« </a:t>
            </a:r>
            <a:r>
              <a:rPr lang="fr-FR" sz="1200" dirty="0" err="1"/>
              <a:t>plot_color</a:t>
            </a:r>
            <a:r>
              <a:rPr lang="fr-FR" sz="1200" dirty="0"/>
              <a:t> »: </a:t>
            </a:r>
            <a:r>
              <a:rPr lang="fr-FR" sz="1200" dirty="0" err="1"/>
              <a:t>str</a:t>
            </a:r>
            <a:r>
              <a:rPr lang="fr-FR" sz="1200" dirty="0"/>
              <a:t> None</a:t>
            </a:r>
          </a:p>
          <a:p>
            <a:pPr lvl="2"/>
            <a:r>
              <a:rPr lang="fr-FR" sz="1200" dirty="0"/>
              <a:t>« </a:t>
            </a:r>
            <a:r>
              <a:rPr lang="fr-FR" sz="1200" dirty="0" err="1"/>
              <a:t>crosshair_v</a:t>
            </a:r>
            <a:r>
              <a:rPr lang="fr-FR" sz="1200" dirty="0"/>
              <a:t> »</a:t>
            </a:r>
          </a:p>
          <a:p>
            <a:pPr lvl="2"/>
            <a:r>
              <a:rPr lang="fr-FR" sz="1200" dirty="0"/>
              <a:t>« </a:t>
            </a:r>
            <a:r>
              <a:rPr lang="fr-FR" sz="1200" dirty="0" err="1"/>
              <a:t>crosshair_h</a:t>
            </a:r>
            <a:r>
              <a:rPr lang="fr-FR" sz="1200" dirty="0"/>
              <a:t> »</a:t>
            </a:r>
          </a:p>
          <a:p>
            <a:pPr lvl="2"/>
            <a:r>
              <a:rPr lang="fr-FR" sz="1200" dirty="0"/>
              <a:t>« </a:t>
            </a:r>
            <a:r>
              <a:rPr lang="fr-FR" sz="1200" dirty="0" err="1"/>
              <a:t>roi_emagram</a:t>
            </a:r>
            <a:r>
              <a:rPr lang="fr-FR" sz="1200" dirty="0"/>
              <a:t> »</a:t>
            </a:r>
          </a:p>
          <a:p>
            <a:r>
              <a:rPr lang="fr-FR" sz="1200" b="1" dirty="0"/>
              <a:t>	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E3D92BFA-7DD1-7524-619E-0D30E94BC3A0}"/>
              </a:ext>
            </a:extLst>
          </p:cNvPr>
          <p:cNvSpPr txBox="1"/>
          <p:nvPr/>
        </p:nvSpPr>
        <p:spPr>
          <a:xfrm>
            <a:off x="8091949" y="581890"/>
            <a:ext cx="2904962" cy="538609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b="1" dirty="0"/>
              <a:t>data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GNSS_time</a:t>
            </a:r>
            <a:r>
              <a:rPr lang="fr-FR" sz="1100" dirty="0"/>
              <a:t>"][i]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GNSS_lat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GNSS_lon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GNSS_alt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GNSS_speed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GNSS_head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QNS_alt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compass_head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flight["data"]["pitch"][i],</a:t>
            </a:r>
          </a:p>
          <a:p>
            <a:r>
              <a:rPr lang="fr-FR" sz="1100" dirty="0"/>
              <a:t>                        flight["data"]["roll"][i],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G_force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vario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flight["data"]["DP"][i],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T_sensor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P_stat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air_T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air_RH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wind_origin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wind_vel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netto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flight["data"]["IAS"][i],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AirES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AirE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AirW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AirTd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flight["data"]["LCL"][i],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AirTheta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AirRho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VarioIAS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flight["data"]["TAS"][i],</a:t>
            </a:r>
          </a:p>
        </p:txBody>
      </p:sp>
    </p:spTree>
    <p:extLst>
      <p:ext uri="{BB962C8B-B14F-4D97-AF65-F5344CB8AC3E}">
        <p14:creationId xmlns:p14="http://schemas.microsoft.com/office/powerpoint/2010/main" val="37261207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1039091" y="803564"/>
            <a:ext cx="2770909" cy="552796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5" name="Rectangle 4"/>
          <p:cNvSpPr/>
          <p:nvPr/>
        </p:nvSpPr>
        <p:spPr>
          <a:xfrm>
            <a:off x="4433454" y="803563"/>
            <a:ext cx="2770909" cy="5527963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Rectangle 5"/>
          <p:cNvSpPr/>
          <p:nvPr/>
        </p:nvSpPr>
        <p:spPr>
          <a:xfrm>
            <a:off x="8105197" y="782780"/>
            <a:ext cx="2770909" cy="5527963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ZoneTexte 6"/>
          <p:cNvSpPr txBox="1"/>
          <p:nvPr/>
        </p:nvSpPr>
        <p:spPr>
          <a:xfrm>
            <a:off x="2063715" y="157230"/>
            <a:ext cx="7871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IGC+</a:t>
            </a:r>
          </a:p>
          <a:p>
            <a:r>
              <a:rPr lang="fr-FR" dirty="0" err="1"/>
              <a:t>igc</a:t>
            </a:r>
            <a:endParaRPr lang="fr-FR" dirty="0"/>
          </a:p>
        </p:txBody>
      </p:sp>
      <p:sp>
        <p:nvSpPr>
          <p:cNvPr id="8" name="ZoneTexte 7"/>
          <p:cNvSpPr txBox="1"/>
          <p:nvPr/>
        </p:nvSpPr>
        <p:spPr>
          <a:xfrm>
            <a:off x="5334288" y="227778"/>
            <a:ext cx="96924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LOGPRO</a:t>
            </a:r>
          </a:p>
          <a:p>
            <a:r>
              <a:rPr lang="fr-FR" dirty="0"/>
              <a:t>csv</a:t>
            </a:r>
          </a:p>
        </p:txBody>
      </p:sp>
      <p:sp>
        <p:nvSpPr>
          <p:cNvPr id="9" name="ZoneTexte 8"/>
          <p:cNvSpPr txBox="1"/>
          <p:nvPr/>
        </p:nvSpPr>
        <p:spPr>
          <a:xfrm>
            <a:off x="8739652" y="413448"/>
            <a:ext cx="13628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ADDITIONAL</a:t>
            </a:r>
          </a:p>
        </p:txBody>
      </p:sp>
      <p:graphicFrame>
        <p:nvGraphicFramePr>
          <p:cNvPr id="10" name="Tableau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01750398"/>
              </p:ext>
            </p:extLst>
          </p:nvPr>
        </p:nvGraphicFramePr>
        <p:xfrm>
          <a:off x="1111215" y="874109"/>
          <a:ext cx="952500" cy="3870960"/>
        </p:xfrm>
        <a:graphic>
          <a:graphicData uri="http://schemas.openxmlformats.org/drawingml/2006/table">
            <a:tbl>
              <a:tblPr/>
              <a:tblGrid>
                <a:gridCol w="952500">
                  <a:extLst>
                    <a:ext uri="{9D8B030D-6E8A-4147-A177-3AD203B41FA5}">
                      <a16:colId xmlns:a16="http://schemas.microsoft.com/office/drawing/2014/main" val="123390018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Time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62161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Lat</a:t>
                      </a:r>
                      <a:endParaRPr lang="fr-FR" dirty="0">
                        <a:effectLst/>
                      </a:endParaRPr>
                    </a:p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Lon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5734289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Alt_GPS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7903393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Alt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7423245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IAS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0296175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Wind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26097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WindDir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3949284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Netto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740290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AirT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326306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AirRH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761002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Gs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86077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compass_Heading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55713635"/>
                  </a:ext>
                </a:extLst>
              </a:tr>
            </a:tbl>
          </a:graphicData>
        </a:graphic>
      </p:graphicFrame>
      <p:graphicFrame>
        <p:nvGraphicFramePr>
          <p:cNvPr id="11" name="Tableau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35915352"/>
              </p:ext>
            </p:extLst>
          </p:nvPr>
        </p:nvGraphicFramePr>
        <p:xfrm>
          <a:off x="4591665" y="874109"/>
          <a:ext cx="802878" cy="4752198"/>
        </p:xfrm>
        <a:graphic>
          <a:graphicData uri="http://schemas.openxmlformats.org/drawingml/2006/table">
            <a:tbl>
              <a:tblPr/>
              <a:tblGrid>
                <a:gridCol w="802878">
                  <a:extLst>
                    <a:ext uri="{9D8B030D-6E8A-4147-A177-3AD203B41FA5}">
                      <a16:colId xmlns:a16="http://schemas.microsoft.com/office/drawing/2014/main" val="2977931163"/>
                    </a:ext>
                  </a:extLst>
                </a:gridCol>
              </a:tblGrid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Time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52327899"/>
                  </a:ext>
                </a:extLst>
              </a:tr>
              <a:tr h="316524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Lat</a:t>
                      </a:r>
                      <a:endParaRPr lang="fr-FR" sz="1200">
                        <a:effectLst/>
                      </a:endParaRPr>
                    </a:p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Lon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4955183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Alt_GPS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48534307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fr-FR" sz="1200" dirty="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67605568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Speed_GPS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29317135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 dirty="0" err="1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Heading_GPS</a:t>
                      </a:r>
                      <a:endParaRPr lang="fr-FR" sz="1200" dirty="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29638361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 dirty="0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DP</a:t>
                      </a:r>
                      <a:endParaRPr lang="fr-FR" sz="1200" dirty="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96712723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T_sensor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03833665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A0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51934671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A1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92036623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Wind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70299833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WindDir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19799347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fr-FR" sz="1200" dirty="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30776670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AirT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8640127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AirRH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3593971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 dirty="0" err="1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Pstat</a:t>
                      </a:r>
                      <a:endParaRPr lang="fr-FR" sz="1200" dirty="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46682792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 dirty="0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Vario</a:t>
                      </a:r>
                      <a:endParaRPr lang="fr-FR" sz="1200" dirty="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2188427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Gs</a:t>
                      </a:r>
                      <a:endParaRPr lang="fr-FR" sz="1200" dirty="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58734764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Compass_heading</a:t>
                      </a:r>
                      <a:endParaRPr lang="fr-FR" sz="1200" dirty="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33689694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Pitch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71958007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Roll</a:t>
                      </a:r>
                      <a:endParaRPr lang="fr-FR" sz="1200" dirty="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06041243"/>
                  </a:ext>
                </a:extLst>
              </a:tr>
            </a:tbl>
          </a:graphicData>
        </a:graphic>
      </p:graphicFrame>
      <p:graphicFrame>
        <p:nvGraphicFramePr>
          <p:cNvPr id="12" name="Tableau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28769552"/>
              </p:ext>
            </p:extLst>
          </p:nvPr>
        </p:nvGraphicFramePr>
        <p:xfrm>
          <a:off x="8186860" y="925944"/>
          <a:ext cx="1200150" cy="2463800"/>
        </p:xfrm>
        <a:graphic>
          <a:graphicData uri="http://schemas.openxmlformats.org/drawingml/2006/table">
            <a:tbl>
              <a:tblPr/>
              <a:tblGrid>
                <a:gridCol w="1200150">
                  <a:extLst>
                    <a:ext uri="{9D8B030D-6E8A-4147-A177-3AD203B41FA5}">
                      <a16:colId xmlns:a16="http://schemas.microsoft.com/office/drawing/2014/main" val="268210852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060804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AirES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770908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AirE</a:t>
                      </a:r>
                      <a:endParaRPr lang="fr-FR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1156559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AirW</a:t>
                      </a:r>
                      <a:endParaRPr lang="fr-FR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2040188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AirTd</a:t>
                      </a:r>
                      <a:endParaRPr lang="fr-FR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7633062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LCL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280922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AirTheta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17925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AirRho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59389034"/>
                  </a:ext>
                </a:extLst>
              </a:tr>
            </a:tbl>
          </a:graphicData>
        </a:graphic>
      </p:graphicFrame>
      <p:graphicFrame>
        <p:nvGraphicFramePr>
          <p:cNvPr id="13" name="Tableau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84047217"/>
              </p:ext>
            </p:extLst>
          </p:nvPr>
        </p:nvGraphicFramePr>
        <p:xfrm>
          <a:off x="9667007" y="925944"/>
          <a:ext cx="1200150" cy="2297316"/>
        </p:xfrm>
        <a:graphic>
          <a:graphicData uri="http://schemas.openxmlformats.org/drawingml/2006/table">
            <a:tbl>
              <a:tblPr/>
              <a:tblGrid>
                <a:gridCol w="1200150">
                  <a:extLst>
                    <a:ext uri="{9D8B030D-6E8A-4147-A177-3AD203B41FA5}">
                      <a16:colId xmlns:a16="http://schemas.microsoft.com/office/drawing/2014/main" val="228237284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6735472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23777904"/>
                  </a:ext>
                </a:extLst>
              </a:tr>
              <a:tr h="352728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39321649"/>
                  </a:ext>
                </a:extLst>
              </a:tr>
              <a:tr h="445988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VarioIAS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1491763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5094251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TAS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7980594"/>
                  </a:ext>
                </a:extLst>
              </a:tr>
            </a:tbl>
          </a:graphicData>
        </a:graphic>
      </p:graphicFrame>
      <p:graphicFrame>
        <p:nvGraphicFramePr>
          <p:cNvPr id="14" name="Tableau 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9402466"/>
              </p:ext>
            </p:extLst>
          </p:nvPr>
        </p:nvGraphicFramePr>
        <p:xfrm>
          <a:off x="2135839" y="925944"/>
          <a:ext cx="1046163" cy="990600"/>
        </p:xfrm>
        <a:graphic>
          <a:graphicData uri="http://schemas.openxmlformats.org/drawingml/2006/table">
            <a:tbl>
              <a:tblPr/>
              <a:tblGrid>
                <a:gridCol w="1046163">
                  <a:extLst>
                    <a:ext uri="{9D8B030D-6E8A-4147-A177-3AD203B41FA5}">
                      <a16:colId xmlns:a16="http://schemas.microsoft.com/office/drawing/2014/main" val="59028827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pitch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043367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roll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536082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85430977"/>
                  </a:ext>
                </a:extLst>
              </a:tr>
            </a:tbl>
          </a:graphicData>
        </a:graphic>
      </p:graphicFrame>
      <p:sp>
        <p:nvSpPr>
          <p:cNvPr id="17" name="ZoneTexte 16"/>
          <p:cNvSpPr txBox="1"/>
          <p:nvPr/>
        </p:nvSpPr>
        <p:spPr>
          <a:xfrm>
            <a:off x="5470997" y="5321507"/>
            <a:ext cx="232049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IAS</a:t>
            </a:r>
            <a:br>
              <a:rPr lang="fr-FR" dirty="0"/>
            </a:br>
            <a:r>
              <a:rPr lang="fr-FR" dirty="0"/>
              <a:t>Netto -&gt; </a:t>
            </a:r>
            <a:r>
              <a:rPr lang="fr-FR" sz="1200" dirty="0">
                <a:solidFill>
                  <a:srgbClr val="FF0000"/>
                </a:solidFill>
              </a:rPr>
              <a:t>Nan</a:t>
            </a:r>
          </a:p>
          <a:p>
            <a:r>
              <a:rPr lang="fr-FR" dirty="0"/>
              <a:t>Alt -&gt; Nan</a:t>
            </a:r>
          </a:p>
        </p:txBody>
      </p:sp>
      <p:sp>
        <p:nvSpPr>
          <p:cNvPr id="19" name="ZoneTexte 18"/>
          <p:cNvSpPr txBox="1"/>
          <p:nvPr/>
        </p:nvSpPr>
        <p:spPr>
          <a:xfrm>
            <a:off x="2291161" y="4023111"/>
            <a:ext cx="1590963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PSTAT</a:t>
            </a:r>
            <a:br>
              <a:rPr lang="fr-FR" dirty="0"/>
            </a:br>
            <a:r>
              <a:rPr lang="fr-FR" dirty="0"/>
              <a:t>VARIO</a:t>
            </a:r>
          </a:p>
          <a:p>
            <a:r>
              <a:rPr lang="fr-FR" dirty="0" err="1"/>
              <a:t>Heading</a:t>
            </a:r>
            <a:r>
              <a:rPr lang="fr-FR" dirty="0"/>
              <a:t> </a:t>
            </a:r>
            <a:r>
              <a:rPr lang="fr-FR" dirty="0" err="1"/>
              <a:t>gps</a:t>
            </a:r>
            <a:endParaRPr lang="fr-FR" dirty="0"/>
          </a:p>
          <a:p>
            <a:r>
              <a:rPr lang="fr-FR" dirty="0" err="1"/>
              <a:t>Speed_gps</a:t>
            </a:r>
            <a:br>
              <a:rPr lang="fr-FR" dirty="0"/>
            </a:br>
            <a:br>
              <a:rPr lang="fr-FR" dirty="0"/>
            </a:br>
            <a:endParaRPr lang="fr-FR" dirty="0"/>
          </a:p>
          <a:p>
            <a:r>
              <a:rPr lang="fr-FR" dirty="0"/>
              <a:t>DP Nan</a:t>
            </a:r>
          </a:p>
        </p:txBody>
      </p:sp>
    </p:spTree>
    <p:extLst>
      <p:ext uri="{BB962C8B-B14F-4D97-AF65-F5344CB8AC3E}">
        <p14:creationId xmlns:p14="http://schemas.microsoft.com/office/powerpoint/2010/main" val="2892422797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6305</TotalTime>
  <Words>635</Words>
  <Application>Microsoft Office PowerPoint</Application>
  <PresentationFormat>Grand écran</PresentationFormat>
  <Paragraphs>137</Paragraphs>
  <Slides>3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</vt:i4>
      </vt:variant>
    </vt:vector>
  </HeadingPairs>
  <TitlesOfParts>
    <vt:vector size="7" baseType="lpstr">
      <vt:lpstr>Arial</vt:lpstr>
      <vt:lpstr>Calibri</vt:lpstr>
      <vt:lpstr>Calibri Light</vt:lpstr>
      <vt:lpstr>Thème Office</vt:lpstr>
      <vt:lpstr>Présentation PowerPoint</vt:lpstr>
      <vt:lpstr>Présentation PowerPoint</vt:lpstr>
      <vt:lpstr>Présentation PowerPoint</vt:lpstr>
    </vt:vector>
  </TitlesOfParts>
  <Company>HP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Félix Aubourg</dc:creator>
  <cp:lastModifiedBy>Félisme</cp:lastModifiedBy>
  <cp:revision>44</cp:revision>
  <dcterms:created xsi:type="dcterms:W3CDTF">2026-01-17T14:03:15Z</dcterms:created>
  <dcterms:modified xsi:type="dcterms:W3CDTF">2026-03-29T20:59:59Z</dcterms:modified>
</cp:coreProperties>
</file>